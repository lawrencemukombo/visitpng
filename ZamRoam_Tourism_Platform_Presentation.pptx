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4114800"/>
          </a:xfrm>
          <a:prstGeom prst="rect">
            <a:avLst/>
          </a:prstGeom>
          <a:solidFill>
            <a:srgbClr val="DE7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ZAMROAM</a:t>
            </a:r>
          </a:p>
          <a:p>
            <a:pPr>
              <a:spcBef>
                <a:spcPts val="400"/>
              </a:spcBef>
              <a:defRPr sz="2000" b="1">
                <a:solidFill>
                  <a:srgbClr val="DE7739"/>
                </a:solidFill>
              </a:defRPr>
            </a:pPr>
            <a:r>
              <a:t>Roam Zambia. Experience More.</a:t>
            </a:r>
          </a:p>
          <a:p>
            <a:pPr>
              <a:spcBef>
                <a:spcPts val="1800"/>
              </a:spcBef>
              <a:defRPr sz="1300">
                <a:solidFill>
                  <a:srgbClr val="A3CFC9"/>
                </a:solidFill>
              </a:defRPr>
            </a:pPr>
            <a:r>
              <a:t>The National Tourism Technology &amp; Digital Travel Ecosystem Connecting 10 Provinces, 116 Districts, National Parks, Traditional Ceremonies, and Verified Local Providers.</a:t>
            </a:r>
          </a:p>
          <a:p>
            <a:pPr>
              <a:spcBef>
                <a:spcPts val="2400"/>
              </a:spcBef>
              <a:defRPr sz="1100">
                <a:solidFill>
                  <a:srgbClr val="34D399"/>
                </a:solidFill>
              </a:defRPr>
            </a:pPr>
            <a:r>
              <a:t>🇿🇲 Commercial Tourism Platform Owned &amp; Operated by Lamton Investments Ltd</a:t>
            </a:r>
            <a:br/>
            <a:r>
              <a:t>📍 Lusaka • Livingstone • Ndola • Mfuwe  |  🌐 zamroam.com  |  💬 WhatsApp: +260 573 506 598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E7739"/>
                </a:solidFill>
              </a:defRPr>
            </a:pPr>
            <a:r>
              <a:t>EXECUTIVE OVERVIEW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Transforming Zambia Tourism with Modern Digital Infrastructure</a:t>
            </a:r>
          </a:p>
          <a:p>
            <a:pPr>
              <a:spcBef>
                <a:spcPts val="200"/>
              </a:spcBef>
              <a:defRPr sz="1100">
                <a:solidFill>
                  <a:srgbClr val="A3CFC9"/>
                </a:solidFill>
              </a:defRPr>
            </a:pPr>
            <a:r>
              <a:t>Connecting international travellers and domestic explorers directly with verified local experiences.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PROBLEM STATEMENT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The Market Challenge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Fragmented Tourism Discovery: Safari lodges, bush camps, and local guides lacked unified digital presence.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Offline &amp; Remote Barriers: Spotty cellular connectivity in national parks hindered digital bookings &amp; navigation.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Middleman Commissions: High international aggregator fees (20-30%) reduced local operator revenues.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Logistical Complexity: Difficult travel time estimates and lack of en-route amenity data across 10 provinces.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CORE VALUE PROPOSITION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The ZamRoam Solution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Unified 10-Province Hub: Complete digital coverage of 116 districts, national parks, and cultural heritage sites.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Offline-First Native Architecture: Topographic trail maps, GPX waypoints, and passes accessible without cellular signal.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100 Founding Partners Program: Zero-commission model empowering Zambian lodges, operators, and guides.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Smart GIS &amp; Slippy Tiles: Interactive OpenStreetMap with live highway corridor travel time &amp; distance calculations.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KEY CAPABILITIES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Platform Key Metrics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10 Provinces &amp; 116 Districts with precise administrative &amp; provincial capital headquarters mapping.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11 National Traditional Ceremonies with authentic cultural guides and 7-language phrasebooks.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8 Major National Highway Corridors (T1, T2, T3, T4, T5, M3, M9, M10) with realistic road waypoints.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24/7 Direct Emergency Dispatch (Zambia Police, National Ambulance, Medevac, ZTA Tourism Police).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E7739"/>
                </a:solidFill>
              </a:defRPr>
            </a:pPr>
            <a:r>
              <a:t>GIS &amp; NAVIGATION ENGINE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Enterprise OpenStreetMap Slippy Tiles &amp; Road Corridor Routing</a:t>
            </a:r>
          </a:p>
          <a:p>
            <a:pPr>
              <a:spcBef>
                <a:spcPts val="200"/>
              </a:spcBef>
              <a:defRPr sz="1100">
                <a:solidFill>
                  <a:srgbClr val="A3CFC9"/>
                </a:solidFill>
              </a:defRPr>
            </a:pPr>
            <a:r>
              <a:t>Dynamic travel calculations with realistic highway geometry instead of straight-line vectors.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LOGISTICS CALCULATOR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Dynamic Distance &amp; TTT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Lusaka National HQ Hub: Instant road distance &amp; travel time estimation from the capital city.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Provincial Capital Hubs: Strict mapping for all 10 provincial HQs (e.g. Solwezi for North-Western, Mongu for Western, Kabwe for Central).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District Headquarters: Live multi-point distance breakdown for the host district.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4 Travel Modes: Sedan (85 km/h), Overland 4x4 (65 km/h), Long-Distance Bus (60 km/h), and Air Charter (280 km/h).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DE7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HIGHWAY NETWORK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Real Highway Corridors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T1 Tourism Highway: Livingstone / Victoria Falls – Choma – Mazabuka – Kafue – Lusaka.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T4 Great East Corridor: Lusaka – Chongwe – Luangwa Bridge – Petauke – Chipata – Mfuwe.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T5 North-Western Highway: Chingola – Solwezi – Mutanda – Mwinilunga – Ikelenge (Zambezi Source).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T2 Great North Road &amp; M9/M10 Western Barotseland Highways with full waypoint curves.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POI LAYERING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Interactive Points of Interest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Interactive Destination Pins: Highlighting UNESCO sites, national parks, waterfalls, and cultural hubs.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National Airports &amp; Bush Airstrips: Kenneth Kaunda, Harry Mwaanga Nkumbula, Mfuwe, Zengamina, Ndole Bay.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24/7 En-Route Amenities: Fuel stations, Level 1 trauma emergency hospitals, and cellular coverage bands.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Smooth Mouse Wheel &amp; Double-Click Zoom with instant re-projection.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E7739"/>
                </a:solidFill>
              </a:defRPr>
            </a:pPr>
            <a:r>
              <a:t>TOURISM &amp; CULTURAL ASSETS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Curated Zambian Experiences &amp; Authentic Living Heritage</a:t>
            </a:r>
          </a:p>
          <a:p>
            <a:pPr>
              <a:spcBef>
                <a:spcPts val="200"/>
              </a:spcBef>
              <a:defRPr sz="1100">
                <a:solidFill>
                  <a:srgbClr val="A3CFC9"/>
                </a:solidFill>
              </a:defRPr>
            </a:pPr>
            <a:r>
              <a:t>Empowering international tourists and domestic travellers to explore Zambia beyond conventional routes.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CATALOGUE BREADTH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7 Core Listing Categories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Safari Lodges &amp; Stays: Luxury riverfront chalets, eco-camps, and boutique city hotels.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Safaris &amp; Guided Tours: Birthplace of walking safaris in South Luangwa, canoe trails in Lower Zambezi.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Adventure &amp; Extreme: Devil's Pool, Victoria Falls bungee, gorge swings, microlight flights.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Dining &amp; Nightlife: Traditional Zambian boma feasts, fresh Kariba bream, and craft breweries.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Transport &amp; Overland 4x4 Car Hire with GPS kits.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DE7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LIVING CULTURE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11 Traditional Ceremonies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Kuomboka (Western / Barotseland): Royal barge Nalikwanda voyage from Lealui to Limulunga.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Nc'wala (Eastern / Chipata): Ngoni first-fruits harvest celebration and warrior dances.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Likumbi Lya Mize (North-Western / Zambezi): UNESCO-inscribed Makishi masquerade.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Ukusefya Pa Ng'wena, Mutomboko, Shimunenga, Kulamba, Lwiindi Gonde, and more.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LANGUAGE ENGINE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7-Language Phrasebook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Comprehensive phrasebook engine with audio-ready greetings, transport, bargaining, and emergency phrases.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Languages Supported: Bemba, Nyanja (Chewa), Tonga, Lozi, Lunda, Luvale, and Kaonde.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Localized Cultural Etiquette: Royal court greetings, chieftaincy respect, and regional customs.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100% accessible offline without data roaming.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E7739"/>
                </a:solidFill>
              </a:defRPr>
            </a:pPr>
            <a:r>
              <a:t>COMMERCIAL ENGINE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The ZamRoam Pass &amp; Digital Membership Loyalty Ecosystem</a:t>
            </a:r>
          </a:p>
          <a:p>
            <a:pPr>
              <a:spcBef>
                <a:spcPts val="200"/>
              </a:spcBef>
              <a:defRPr sz="1100">
                <a:solidFill>
                  <a:srgbClr val="A3CFC9"/>
                </a:solidFill>
              </a:defRPr>
            </a:pPr>
            <a:r>
              <a:t>Tiered digital memberships unlocking verified provider discounts, VIP access, and anti-fraud QR passes.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MEMBERSHIP TIERS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Tiered Membership Passes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Tourist Explorer Pass (Complimentary): Basic traveler profile, wishlist saving, review moderation.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Safari Adventurer Pass (K499/year or K49/mo): 10-15% discounts at partner lodges, walking safaris, priority booking.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VIP Diplomat Pass (K1,699/year): Exclusive room upgrades, 4 family dependants, private VIP airport transfers.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7-Day Event &amp; Conference Pass (K149): Short-term pass for delegates and holidaymakers.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DIGITAL SECURITY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Dynamic QR Tokens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Time-Expiring Security Salt: Anti-fraud dynamic QR codes refreshing every 60 seconds to prevent duplication.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Offline-Ready Wallet: Passes cached in local storage with cryptographic verification tokens.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Physical NFC/Metal Cards: Premium engraved metal membership cards dispatched to VIP members.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Real-Time Status: Instant validation across mobile, tablet, and desktop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LOYALTY ENGINE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Gamified Loyalty Ledger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Reward Points Engine: Earn points on verified reviews, partner visits, and multi-day bookings.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Redemption Catalog: Convert points to park activity vouchers, lodge discounts, or dining credits.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Provider Redemption Terminal: Web-based scanning portal for partner lodge staff to validate passes in seconds.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Complete audit logging of all redemptions.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E7739"/>
                </a:solidFill>
              </a:defRPr>
            </a:pPr>
            <a:r>
              <a:t>B2B STRATEGY &amp; GROWTH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100 Founding Partners Program &amp; Sustainable Revenue Model</a:t>
            </a:r>
          </a:p>
          <a:p>
            <a:pPr>
              <a:spcBef>
                <a:spcPts val="200"/>
              </a:spcBef>
              <a:defRPr sz="1100">
                <a:solidFill>
                  <a:srgbClr val="A3CFC9"/>
                </a:solidFill>
              </a:defRPr>
            </a:pPr>
            <a:r>
              <a:t>Empowering Zambian tourism businesses while establishing diversified recurring revenue streams.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DE7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PARTNER INCENTIVE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100 Founding Partners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0% Commission Year 1: Zero listing and transaction fees for the first 100 verified Zambian tourism businesses.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Founding Partner Badge: Permanent platform distinction establishing verified trust and credibility.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Dedicated Discovery Placement: Featured spotlights across search, interactive map, and editorial circuits.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Direct Booking Leads: Customers connect directly with provider WhatsApp, website, and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B2B REVENUE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Provider Subscriptions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Listed Partner (Free): Verified directory listing, up to 2 active member offers.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Silver Partner (K899/yr): Enhanced search ranking, 4 simultaneous member offers, analytics dashboard.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Gold Partner (K1,899/yr): Priority discovery, geographic push targeting, 8 active member offers.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Platinum Partner (K4,500/yr): Homepage spotlight campaigns, VIP concierge integration, API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BUSINESS MODEL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Diversified Income Streams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Annual Consumer Pass Subscriptions (B2C recurring membership revenue).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Corporate &amp; Diplomatic Sponsorships (custom hospitality packages for corporate teams).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Featured Partner Advertising &amp; Regional Circuit Sponsorships.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Transactional Commission Options for automated high-volume bookings.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E7739"/>
                </a:solidFill>
              </a:defRPr>
            </a:pPr>
            <a:r>
              <a:t>AI &amp; SAFETY ARCHITECTURE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AI Travel Concierge, Security Advisory &amp; Emergency Dispatch</a:t>
            </a:r>
          </a:p>
          <a:p>
            <a:pPr>
              <a:spcBef>
                <a:spcPts val="200"/>
              </a:spcBef>
              <a:defRPr sz="1100">
                <a:solidFill>
                  <a:srgbClr val="A3CFC9"/>
                </a:solidFill>
              </a:defRPr>
            </a:pPr>
            <a:r>
              <a:t>State-of-the-art traveler assistance and comprehensive multi-agency safety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AI TECHNOLOGY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AI Travel Concierge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24/7 Smart Assistance: Context-aware AI assistant providing instant answers on visas, health, and transport.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Dynamic Itinerary Builder: Generates custom 3-day, 7-day, or 14-day safari routes tailored to budget and travel style.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Multi-Channel Support: Interactive in-app chat modal with seamless escalation to human WhatsApp concierge.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Offline fallback guidance for remote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SAFETY INDEX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Security Advisory Engine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Provincial Safety Indexes: Real-time safety ratings, weather advisories, and road condition updates.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Verified Local Advisories: National park flood warnings, dry-season wildlife movements, and border crossing tips.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Health Guidance: Malaria prophylaxis advice, yellow fever requirements, and accredited clinic directories.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Transparent, non-alarmist traveler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EMERGENCY READY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1-Tap Emergency Dispatch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Zambia Police Service (National Hotline &amp; Local Stations).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National Emergency Medical Ambulance (Level 1 Trauma Centers).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Medevac Aerial Rescue (Flying Mission Zambia &amp; ProCharter Air Evac).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Zambia Tourism Agency (ZTA) Tourist Police Helpline.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Direct click-to-call integration across all devices.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E7739"/>
                </a:solidFill>
              </a:defRPr>
            </a:pPr>
            <a:r>
              <a:t>TECHNICAL ARCHITECTURE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Enterprise Next.js Architecture, Cloudflare D1 &amp; Strict RBAC</a:t>
            </a:r>
          </a:p>
          <a:p>
            <a:pPr>
              <a:spcBef>
                <a:spcPts val="200"/>
              </a:spcBef>
              <a:defRPr sz="1100">
                <a:solidFill>
                  <a:srgbClr val="A3CFC9"/>
                </a:solidFill>
              </a:defRPr>
            </a:pPr>
            <a:r>
              <a:t>High-performance, secure, and production-hardened web application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FRONTEND STACK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Frontend &amp; UX Engineering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Next.js 16 (App Router) + React + TypeScript.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Zero Heavy CSS Frameworks: Native responsive CSS with tailored design tokens, glassmorphism, and Ubuntu typography.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Vector SVG Canvas Engine: Smooth GPS projections for 116 districts, highway corridors, and custom interactive pins.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Accessible, touch-friendly, and mobile-optimized.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DATA SAFETY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Database &amp; Storage Layer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Cloudflare D1 / SQLite Engine with ACID compliance and parameterized queries.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Strict Non-Destructive Migrations: Safe additive column upgrades without table drops or wipes.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Multi-Entity Relationships: Countries, Provinces, Districts, Categories, Listings, Reviews, Wishlists, Bookings, Memberships.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Complete audit logging of all sensitive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DE7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ENTERPRISE RBAC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Security &amp; Admin Control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Multi-Tier Role-Based Access Control (RBAC): SuperAdmin, Regional Moderator, Provider Owner, Traveler.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Provider Moderation Portal: Review submitted listings, license credentials, and promotional offers before publication.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Anti-Abuse &amp; Rate Limiting: Secure auth token validation with HTTP-only cookie persistence.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Automated Test Coverage (26/26 test suites).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E7739"/>
                </a:solidFill>
              </a:defRPr>
            </a:pPr>
            <a:r>
              <a:t>VISION &amp; ROADMAP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National Scaling, Regional Expansion &amp; Long-Term Impact</a:t>
            </a:r>
          </a:p>
          <a:p>
            <a:pPr>
              <a:spcBef>
                <a:spcPts val="200"/>
              </a:spcBef>
              <a:defRPr sz="1100">
                <a:solidFill>
                  <a:srgbClr val="A3CFC9"/>
                </a:solidFill>
              </a:defRPr>
            </a:pPr>
            <a:r>
              <a:t>Positioning Zambia at the forefront of digital tourism innovation across Africa.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Q1 - Q2 2026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Phase 1: National Launch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Complete onboarding of the 100 Founding Zambian Tourism Partners.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Nationwide roll-out of the ZamRoam Pass across Lusaka, Livingstone, Ndola, and South Luangwa.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Partnership alignment with ZTA (Zambia Tourism Agency) and NHCC (National Heritage).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Initial domestic &amp; international tourist adoption.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Q3 - Q4 2026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Phase 2: Ecosystem Growth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Integration with domestic airline reservation APIs (Zambia Airways &amp; Proflight).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Mobile POS &amp; QR scanner hardware distribution to partner lodges and national park gates.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Offline PWA (Progressive Web App) with background synchronization and trail telemetry.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Expansion of corporate membership pass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3833"/>
          </a:solidFill>
          <a:ln w="19050">
            <a:solidFill>
              <a:srgbClr val="DE7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E7739"/>
                </a:solidFill>
              </a:defRPr>
            </a:pPr>
            <a:r>
              <a:t>2027 &amp; BEYOND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Phase 3: SADC Expansion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Cross-border safari circuits connecting Zambia, Botswana (Chobe), Zimbabwe (Vic Falls), and Namibia (Caprivi).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Multi-currency automated settlement (ZMW, USD, EUR, GBP, ZAR).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Advanced AI dynamic pricing &amp; demand forecasting for local operators.</a:t>
            </a:r>
          </a:p>
          <a:p>
            <a:pPr>
              <a:spcAft>
                <a:spcPts val="400"/>
              </a:spcAft>
              <a:defRPr sz="1050">
                <a:solidFill>
                  <a:srgbClr val="A3CFC9"/>
                </a:solidFill>
              </a:defRPr>
            </a:pPr>
            <a:r>
              <a:t>• Regional tourism data analytics 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663440"/>
          </a:xfrm>
          <a:prstGeom prst="rect">
            <a:avLst/>
          </a:prstGeom>
          <a:solidFill>
            <a:srgbClr val="DE7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Partner With ZamRoam</a:t>
            </a:r>
          </a:p>
          <a:p>
            <a:pPr>
              <a:spcBef>
                <a:spcPts val="400"/>
              </a:spcBef>
              <a:defRPr sz="2000" b="1">
                <a:solidFill>
                  <a:srgbClr val="DE7739"/>
                </a:solidFill>
              </a:defRPr>
            </a:pPr>
            <a:r>
              <a:t>Join Zambia's Digital Tourism Revolution</a:t>
            </a:r>
          </a:p>
          <a:p>
            <a:pPr>
              <a:spcBef>
                <a:spcPts val="1600"/>
              </a:spcBef>
              <a:defRPr sz="1300">
                <a:solidFill>
                  <a:srgbClr val="A3CFC9"/>
                </a:solidFill>
              </a:defRPr>
            </a:pPr>
            <a:r>
              <a:t>ZamRoam is ready to partner with lodge operators, safari guides, transport providers, cultural institutions, and government stakeholders to showcase the best of Zambia to the world.</a:t>
            </a:r>
          </a:p>
          <a:p>
            <a:pPr>
              <a:spcBef>
                <a:spcPts val="2200"/>
              </a:spcBef>
              <a:defRPr sz="1100" b="1">
                <a:solidFill>
                  <a:srgbClr val="F59E0B"/>
                </a:solidFill>
              </a:defRPr>
            </a:pPr>
            <a:r>
              <a:t>CORPORATE &amp; PARTNERSHIP INQUIRIES: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🏢 Legal Entity: Lamton Investments Ltd</a:t>
            </a:r>
            <a:br/>
            <a:r>
              <a:t>📍 Registered Office: Plot 10444, Great East Road, Rhodes Park, Lusaka, Zambia</a:t>
            </a:r>
            <a:br/>
            <a:r>
              <a:t>🌐 Official Website: https://zamroam.com</a:t>
            </a:r>
            <a:br/>
            <a:r>
              <a:t>✉️ General Inquiries: info@zamroam.com  |  info@lamtoninvestments.com</a:t>
            </a:r>
            <a:br/>
            <a:r>
              <a:t>💬 WhatsApp Business Hotline: +260 573 506 598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