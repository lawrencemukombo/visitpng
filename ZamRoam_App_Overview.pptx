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ec6cc51921423b" /><Relationship Type="http://schemas.openxmlformats.org/officeDocument/2006/relationships/extended-properties" Target="/docProps/app.xml" Id="Re6443f8971604f53" /><Relationship Type="http://schemas.openxmlformats.org/officeDocument/2006/relationships/officeDocument" Target="/ppt/presentation.xml" Id="R3152957822b34e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d21a19e9ea47fc"/>
  </p:sldMasterIdLst>
  <p:notesMasterIdLst>
    <p:notesMasterId xmlns:r="http://schemas.openxmlformats.org/officeDocument/2006/relationships" r:id="Rf80ba3b817bb4dfd"/>
  </p:notesMasterIdLst>
  <p:sldIdLst>
    <p:sldId xmlns:r="http://schemas.openxmlformats.org/officeDocument/2006/relationships" id="256" r:id="R4518be64ee7a44f9"/>
    <p:sldId xmlns:r="http://schemas.openxmlformats.org/officeDocument/2006/relationships" id="257" r:id="R12e6f0f004aa4864"/>
    <p:sldId xmlns:r="http://schemas.openxmlformats.org/officeDocument/2006/relationships" id="258" r:id="Rc4eb8e32f2c94116"/>
    <p:sldId xmlns:r="http://schemas.openxmlformats.org/officeDocument/2006/relationships" id="259" r:id="R6b47522a4e804a31"/>
    <p:sldId xmlns:r="http://schemas.openxmlformats.org/officeDocument/2006/relationships" id="260" r:id="R1db805f25c1043d8"/>
    <p:sldId xmlns:r="http://schemas.openxmlformats.org/officeDocument/2006/relationships" id="261" r:id="Rbb9b4fc0e78f4ef6"/>
    <p:sldId xmlns:r="http://schemas.openxmlformats.org/officeDocument/2006/relationships" id="262" r:id="R2e457099550847a6"/>
    <p:sldId xmlns:r="http://schemas.openxmlformats.org/officeDocument/2006/relationships" id="263" r:id="Ra967c44c66524d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6479c5a9d6457c" /><Relationship Type="http://schemas.openxmlformats.org/officeDocument/2006/relationships/slideMaster" Target="/ppt/slideMasters/slideMaster1.xml" Id="R81d21a19e9ea47fc" /><Relationship Type="http://schemas.openxmlformats.org/officeDocument/2006/relationships/notesMaster" Target="/ppt/notesMasters/notesMaster1.xml" Id="Rf80ba3b817bb4dfd" /><Relationship Type="http://schemas.openxmlformats.org/officeDocument/2006/relationships/presProps" Target="/ppt/presProps.xml" Id="Ree4f4aab8e904676" /><Relationship Type="http://schemas.openxmlformats.org/officeDocument/2006/relationships/tableStyles" Target="/ppt/tableStyles.xml" Id="R433d7ac75c554139" /><Relationship Type="http://schemas.openxmlformats.org/officeDocument/2006/relationships/slide" Target="/ppt/slides/slide1.xml" Id="R4518be64ee7a44f9" /><Relationship Type="http://schemas.openxmlformats.org/officeDocument/2006/relationships/slide" Target="/ppt/slides/slide2.xml" Id="R12e6f0f004aa4864" /><Relationship Type="http://schemas.openxmlformats.org/officeDocument/2006/relationships/slide" Target="/ppt/slides/slide3.xml" Id="Rc4eb8e32f2c94116" /><Relationship Type="http://schemas.openxmlformats.org/officeDocument/2006/relationships/slide" Target="/ppt/slides/slide4.xml" Id="R6b47522a4e804a31" /><Relationship Type="http://schemas.openxmlformats.org/officeDocument/2006/relationships/slide" Target="/ppt/slides/slide5.xml" Id="R1db805f25c1043d8" /><Relationship Type="http://schemas.openxmlformats.org/officeDocument/2006/relationships/slide" Target="/ppt/slides/slide6.xml" Id="Rbb9b4fc0e78f4ef6" /><Relationship Type="http://schemas.openxmlformats.org/officeDocument/2006/relationships/slide" Target="/ppt/slides/slide7.xml" Id="R2e457099550847a6" /><Relationship Type="http://schemas.openxmlformats.org/officeDocument/2006/relationships/slide" Target="/ppt/slides/slide8.xml" Id="Ra967c44c66524d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c4365d28c84c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85a06277a54b70" /><Relationship Type="http://schemas.openxmlformats.org/officeDocument/2006/relationships/notesMaster" Target="/ppt/notesMasters/notesMaster1.xml" Id="R0a59b8961c3944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de5bcefa4646cc" /><Relationship Type="http://schemas.openxmlformats.org/officeDocument/2006/relationships/notesMaster" Target="/ppt/notesMasters/notesMaster1.xml" Id="R91212d53da9545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6141468ae84ae2" /><Relationship Type="http://schemas.openxmlformats.org/officeDocument/2006/relationships/notesMaster" Target="/ppt/notesMasters/notesMaster1.xml" Id="Rfa45d352e5b845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a8da4c52b14abc" /><Relationship Type="http://schemas.openxmlformats.org/officeDocument/2006/relationships/notesMaster" Target="/ppt/notesMasters/notesMaster1.xml" Id="R944458a08c8e43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1f2cf15ab545b5" /><Relationship Type="http://schemas.openxmlformats.org/officeDocument/2006/relationships/notesMaster" Target="/ppt/notesMasters/notesMaster1.xml" Id="Rb71c2279e79d4d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d22826861b46c4" /><Relationship Type="http://schemas.openxmlformats.org/officeDocument/2006/relationships/notesMaster" Target="/ppt/notesMasters/notesMaster1.xml" Id="R2e25608400ae4f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92f77b091b47bf" /><Relationship Type="http://schemas.openxmlformats.org/officeDocument/2006/relationships/notesMaster" Target="/ppt/notesMasters/notesMaster1.xml" Id="Rce6fb23f222a4f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b8d535c57e4e57" /><Relationship Type="http://schemas.openxmlformats.org/officeDocument/2006/relationships/notesMaster" Target="/ppt/notesMasters/notesMaster1.xml" Id="R9b8aa1b7a83d43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platform promise: one place to discover, prepare, book and participate in Zambia tourism.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application source and repository assets: C:/visitzambia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is intentionally multi-sided: it serves travellers while giving tourism operators and administrators the tools to keep the ecosystem useful and trusted.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application source and repository assets: C:/visitzambia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main Explore experience is Zambia-specific, with Victoria Falls, South Luangwa and local categories embedded in the product copy and data model.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application source and repository assets: C:/visitzambia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practical layer: the app helps users navigate, communicate, understand risk and carry essential information beyond reliable mobile coverage.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application source and repository assets: C:/visitzambia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ceremony and language modules frame culture as context for responsible participation, not simply as a gallery of attractions.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application source and repository assets: C:/visitzambia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Saved items, shared trip planning, bookings, permits and memberships turn discovery into an ongoing relationship rather than a one-time browse.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application source and repository assets: C:/visitzambia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partner and admin surfaces include provider applications, licence fields, vetting, publishing, redemption, audit history and customer-operations tooling.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application source and repository assets: C:/visitzambia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the audience to experience the product, explore partnership opportunities or identify a pilot use case.</a:t>
            </a:r>
          </a:p>
          <a:p xmlns:a="http://schemas.openxmlformats.org/drawingml/2006/main">
            <a:r>
              <a:t>Technical foundation verified from package.json and the local data layer.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application source and repository assets: C:/visitzambia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9d206a23a4b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e65f45cf8d4c85" /><Relationship Type="http://schemas.openxmlformats.org/officeDocument/2006/relationships/slideLayout" Target="/ppt/slideLayouts/slideLayout1.xml" Id="R85918a379bf347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918a379bf347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be0bc8f2e496f" /><Relationship Type="http://schemas.openxmlformats.org/officeDocument/2006/relationships/image" Target="/ppt/media/image.jpeg" Id="R2271c78153624105" /><Relationship Type="http://schemas.openxmlformats.org/officeDocument/2006/relationships/notesSlide" Target="/ppt/notesSlides/notesSlide1.xml" Id="R2bc39c122a2c48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5229006c44d08" /><Relationship Type="http://schemas.openxmlformats.org/officeDocument/2006/relationships/image" Target="/ppt/media/image.png" Id="Rd7bc7c7d9c4342c2" /><Relationship Type="http://schemas.openxmlformats.org/officeDocument/2006/relationships/image" Target="/ppt/media/image2.png" Id="R773659a59e8a43c7" /><Relationship Type="http://schemas.openxmlformats.org/officeDocument/2006/relationships/image" Target="/ppt/media/image3.png" Id="Red111eec70c4446a" /><Relationship Type="http://schemas.openxmlformats.org/officeDocument/2006/relationships/image" Target="/ppt/media/image4.png" Id="R7c4a9539458d4e4d" /><Relationship Type="http://schemas.openxmlformats.org/officeDocument/2006/relationships/notesSlide" Target="/ppt/notesSlides/notesSlide2.xml" Id="R3bea0e74641c47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1fcde96ad487a" /><Relationship Type="http://schemas.openxmlformats.org/officeDocument/2006/relationships/image" Target="/ppt/media/image2.jpeg" Id="R92f3ed0a51ac4ada" /><Relationship Type="http://schemas.openxmlformats.org/officeDocument/2006/relationships/notesSlide" Target="/ppt/notesSlides/notesSlide3.xml" Id="R05be5729a1fb4e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359bbf6974d24" /><Relationship Type="http://schemas.openxmlformats.org/officeDocument/2006/relationships/image" Target="/ppt/media/image5.png" Id="Rac49c8c13fcb4932" /><Relationship Type="http://schemas.openxmlformats.org/officeDocument/2006/relationships/image" Target="/ppt/media/image6.png" Id="R9a2bbb7c987c49b1" /><Relationship Type="http://schemas.openxmlformats.org/officeDocument/2006/relationships/image" Target="/ppt/media/image7.png" Id="R4b9e2c36409e49e5" /><Relationship Type="http://schemas.openxmlformats.org/officeDocument/2006/relationships/image" Target="/ppt/media/image8.png" Id="R429e9c00ae9f40d5" /><Relationship Type="http://schemas.openxmlformats.org/officeDocument/2006/relationships/notesSlide" Target="/ppt/notesSlides/notesSlide4.xml" Id="Rb3029c24b88840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d472ecc2c48c9" /><Relationship Type="http://schemas.openxmlformats.org/officeDocument/2006/relationships/image" Target="/ppt/media/image3.jpeg" Id="Raa27241b69af4830" /><Relationship Type="http://schemas.openxmlformats.org/officeDocument/2006/relationships/image" Target="/ppt/media/image4.jpeg" Id="R5b3ea0f33fdf44cd" /><Relationship Type="http://schemas.openxmlformats.org/officeDocument/2006/relationships/image" Target="/ppt/media/image5.jpeg" Id="R4cfbd9bd2e2c45b3" /><Relationship Type="http://schemas.openxmlformats.org/officeDocument/2006/relationships/notesSlide" Target="/ppt/notesSlides/notesSlide5.xml" Id="R0c76ccceaa0c48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4729cb7cb475d" /><Relationship Type="http://schemas.openxmlformats.org/officeDocument/2006/relationships/notesSlide" Target="/ppt/notesSlides/notesSlide6.xml" Id="R137977a6a5bc46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13d9b40324f2a" /><Relationship Type="http://schemas.openxmlformats.org/officeDocument/2006/relationships/image" Target="/ppt/media/image6.jpeg" Id="R0328d7013bc64879" /><Relationship Type="http://schemas.openxmlformats.org/officeDocument/2006/relationships/notesSlide" Target="/ppt/notesSlides/notesSlide7.xml" Id="Rb73c357645a34c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76c61f1764d58" /><Relationship Type="http://schemas.openxmlformats.org/officeDocument/2006/relationships/image" Target="/ppt/media/image7.jpeg" Id="Rbe7627ca769644b9" /><Relationship Type="http://schemas.openxmlformats.org/officeDocument/2006/relationships/notesSlide" Target="/ppt/notesSlides/notesSlide8.xml" Id="Rc6fe4958a0e24b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B2F415F-7352-488C-A868-D68EBABE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69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6960"/>
                </a:solidFill>
                <a:latin typeface="Arial"/>
                <a:ea typeface="Arial"/>
                <a:cs typeface="Arial"/>
              </a:rPr>
              <a:t>ZAMBIA TOURISM, CONNECTED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2DFDA65-CC44-4055-B891-89C7B39F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ZamRoam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7847921-0B72-430A-BB81-A56746AF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69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B6960"/>
                </a:solidFill>
                <a:latin typeface="Arial"/>
                <a:ea typeface="Arial"/>
                <a:cs typeface="Arial"/>
              </a:rPr>
              <a:t>Discover Zambia.</a:t>
            </a:r>
          </a:p>
          <a:p xmlns:a="http://schemas.openxmlformats.org/drawingml/2006/main">
            <a:pPr algn="l">
              <a:defRPr sz="2850" b="1">
                <a:solidFill>
                  <a:srgbClr val="1B69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B6960"/>
                </a:solidFill>
                <a:latin typeface="Arial"/>
                <a:ea typeface="Arial"/>
                <a:cs typeface="Arial"/>
              </a:rPr>
              <a:t>Plan with confidence.</a:t>
            </a:r>
          </a:p>
          <a:p xmlns:a="http://schemas.openxmlformats.org/drawingml/2006/main">
            <a:pPr algn="l">
              <a:defRPr sz="2850" b="1">
                <a:solidFill>
                  <a:srgbClr val="1B69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B6960"/>
                </a:solidFill>
                <a:latin typeface="Arial"/>
                <a:ea typeface="Arial"/>
                <a:cs typeface="Arial"/>
              </a:rPr>
              <a:t>Experience more.</a:t>
            </a:r>
          </a:p>
        </p:txBody>
      </p:sp>
      <p:sp>
        <p:nvSpPr>
          <p:cNvPr id="4" name="cover-body">
            <a:extLst xmlns:a="http://schemas.openxmlformats.org/drawingml/2006/main">
              <a:ext uri="{FF2B5EF4-FFF2-40B4-BE49-F238E27FC236}">
                <a16:creationId xmlns:a16="http://schemas.microsoft.com/office/drawing/2014/main" id="{BDBBCF20-C4A9-48B9-9170-B7E85C1C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523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5848A"/>
                </a:solidFill>
                <a:latin typeface="Arial"/>
                <a:ea typeface="Arial"/>
                <a:cs typeface="Arial"/>
              </a:rPr>
              <a:t>A single digital platform for visitors, tourism businesses, communities and destination stakeholders.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1c78153624105"/>
          <a:srcRect xmlns:a="http://schemas.openxmlformats.org/drawingml/2006/main" l="10554" t="0" r="105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</p:spPr>
      </p:pic>
      <p:sp>
        <p:nvSpPr>
          <p:cNvPr id="6" name="footer-1">
            <a:extLst xmlns:a="http://schemas.openxmlformats.org/drawingml/2006/main">
              <a:ext uri="{FF2B5EF4-FFF2-40B4-BE49-F238E27FC236}">
                <a16:creationId xmlns:a16="http://schemas.microsoft.com/office/drawing/2014/main" id="{BC5D8B26-CD04-4EB9-B080-356BD35A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48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472582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2">
            <a:extLst xmlns:a="http://schemas.openxmlformats.org/drawingml/2006/main">
              <a:ext uri="{FF2B5EF4-FFF2-40B4-BE49-F238E27FC236}">
                <a16:creationId xmlns:a16="http://schemas.microsoft.com/office/drawing/2014/main" id="{43188148-8429-4051-A220-D6D66530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696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6960"/>
                </a:solidFill>
                <a:latin typeface="Arial"/>
                <a:ea typeface="Arial"/>
                <a:cs typeface="Arial"/>
              </a:rPr>
              <a:t>ZAMROAM PLATFORM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214088E-7A5D-441C-9345-9251654C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One app supports the whole tourism journey</a:t>
            </a:r>
          </a:p>
        </p:txBody>
      </p:sp>
      <p:sp>
        <p:nvSpPr>
          <p:cNvPr id="3" name="footer-2">
            <a:extLst xmlns:a="http://schemas.openxmlformats.org/drawingml/2006/main">
              <a:ext uri="{FF2B5EF4-FFF2-40B4-BE49-F238E27FC236}">
                <a16:creationId xmlns:a16="http://schemas.microsoft.com/office/drawing/2014/main" id="{0416C620-0AC4-476E-93E8-FC3C3AFB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4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s2-intro">
            <a:extLst xmlns:a="http://schemas.openxmlformats.org/drawingml/2006/main">
              <a:ext uri="{FF2B5EF4-FFF2-40B4-BE49-F238E27FC236}">
                <a16:creationId xmlns:a16="http://schemas.microsoft.com/office/drawing/2014/main" id="{252C1450-A89C-4B8D-BE2A-AF470E47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5848A"/>
                </a:solidFill>
                <a:latin typeface="Arial"/>
                <a:ea typeface="Arial"/>
                <a:cs typeface="Arial"/>
              </a:rPr>
              <a:t>ZamRoam connects inspiration, practical travel support and trusted participation in one responsive experience.</a:t>
            </a:r>
          </a:p>
        </p:txBody>
      </p:sp>
      <p:sp>
        <p:nvSpPr>
          <p:cNvPr id="5" name="s2-panel-0">
            <a:extLst xmlns:a="http://schemas.openxmlformats.org/drawingml/2006/main">
              <a:ext uri="{FF2B5EF4-FFF2-40B4-BE49-F238E27FC236}">
                <a16:creationId xmlns:a16="http://schemas.microsoft.com/office/drawing/2014/main" id="{A21C6750-A4C0-4017-B63B-377D2FA8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54673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c7c7d9c4342c2"/>
          <a:stretch xmlns:a="http://schemas.openxmlformats.org/drawingml/2006/main"/>
        </p:blipFill>
        <p:spPr>
          <a:xfrm xmlns:a="http://schemas.openxmlformats.org/drawingml/2006/main">
            <a:off x="609600" y="264795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7" name="s2-h-0">
            <a:extLst xmlns:a="http://schemas.openxmlformats.org/drawingml/2006/main">
              <a:ext uri="{FF2B5EF4-FFF2-40B4-BE49-F238E27FC236}">
                <a16:creationId xmlns:a16="http://schemas.microsoft.com/office/drawing/2014/main" id="{A87295EA-F322-4EC9-8143-7282C98A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003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Explore</a:t>
            </a:r>
          </a:p>
        </p:txBody>
      </p:sp>
      <p:sp>
        <p:nvSpPr>
          <p:cNvPr id="8" name="s2-b-0">
            <a:extLst xmlns:a="http://schemas.openxmlformats.org/drawingml/2006/main">
              <a:ext uri="{FF2B5EF4-FFF2-40B4-BE49-F238E27FC236}">
                <a16:creationId xmlns:a16="http://schemas.microsoft.com/office/drawing/2014/main" id="{23B741FD-3D37-4E2D-BF5E-3236F72D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19425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5848A"/>
                </a:solidFill>
                <a:latin typeface="Arial"/>
                <a:ea typeface="Arial"/>
                <a:cs typeface="Arial"/>
              </a:rPr>
              <a:t>Places, stays, experiences, categories and destination search</a:t>
            </a:r>
          </a:p>
        </p:txBody>
      </p:sp>
      <p:sp>
        <p:nvSpPr>
          <p:cNvPr id="9" name="s2-panel-1">
            <a:extLst xmlns:a="http://schemas.openxmlformats.org/drawingml/2006/main">
              <a:ext uri="{FF2B5EF4-FFF2-40B4-BE49-F238E27FC236}">
                <a16:creationId xmlns:a16="http://schemas.microsoft.com/office/drawing/2014/main" id="{396173F0-5A08-46D3-9C0A-4F0AD383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54673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659a59e8a43c7"/>
          <a:stretch xmlns:a="http://schemas.openxmlformats.org/drawingml/2006/main"/>
        </p:blipFill>
        <p:spPr>
          <a:xfrm xmlns:a="http://schemas.openxmlformats.org/drawingml/2006/main">
            <a:off x="6438900" y="264795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11" name="s2-h-1">
            <a:extLst xmlns:a="http://schemas.openxmlformats.org/drawingml/2006/main">
              <a:ext uri="{FF2B5EF4-FFF2-40B4-BE49-F238E27FC236}">
                <a16:creationId xmlns:a16="http://schemas.microsoft.com/office/drawing/2014/main" id="{D55E88F0-DCD0-43C2-AAB3-39632F2D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003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12" name="s2-b-1">
            <a:extLst xmlns:a="http://schemas.openxmlformats.org/drawingml/2006/main">
              <a:ext uri="{FF2B5EF4-FFF2-40B4-BE49-F238E27FC236}">
                <a16:creationId xmlns:a16="http://schemas.microsoft.com/office/drawing/2014/main" id="{77912E04-5F7F-44E2-B293-3FCAB033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19425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5848A"/>
                </a:solidFill>
                <a:latin typeface="Arial"/>
                <a:ea typeface="Arial"/>
                <a:cs typeface="Arial"/>
              </a:rPr>
              <a:t>Maps, safety guidance, local phrases, permits and offline trails</a:t>
            </a:r>
          </a:p>
        </p:txBody>
      </p:sp>
      <p:sp>
        <p:nvSpPr>
          <p:cNvPr id="13" name="s2-panel-2">
            <a:extLst xmlns:a="http://schemas.openxmlformats.org/drawingml/2006/main">
              <a:ext uri="{FF2B5EF4-FFF2-40B4-BE49-F238E27FC236}">
                <a16:creationId xmlns:a16="http://schemas.microsoft.com/office/drawing/2014/main" id="{C3F9292A-FF7A-4169-8E08-41498001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4673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11eec70c4446a"/>
          <a:stretch xmlns:a="http://schemas.openxmlformats.org/drawingml/2006/main"/>
        </p:blipFill>
        <p:spPr>
          <a:xfrm xmlns:a="http://schemas.openxmlformats.org/drawingml/2006/main">
            <a:off x="609600" y="4410075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15" name="s2-h-2">
            <a:extLst xmlns:a="http://schemas.openxmlformats.org/drawingml/2006/main">
              <a:ext uri="{FF2B5EF4-FFF2-40B4-BE49-F238E27FC236}">
                <a16:creationId xmlns:a16="http://schemas.microsoft.com/office/drawing/2014/main" id="{193B9143-4774-4F42-BCC2-308DB076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624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Plan &amp; transact</a:t>
            </a:r>
          </a:p>
        </p:txBody>
      </p:sp>
      <p:sp>
        <p:nvSpPr>
          <p:cNvPr id="16" name="s2-b-2">
            <a:extLst xmlns:a="http://schemas.openxmlformats.org/drawingml/2006/main">
              <a:ext uri="{FF2B5EF4-FFF2-40B4-BE49-F238E27FC236}">
                <a16:creationId xmlns:a16="http://schemas.microsoft.com/office/drawing/2014/main" id="{FE9AD24E-487B-4490-8580-07EA37F5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815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5848A"/>
                </a:solidFill>
                <a:latin typeface="Arial"/>
                <a:ea typeface="Arial"/>
                <a:cs typeface="Arial"/>
              </a:rPr>
              <a:t>Saved lists, collaborative trips, bookings, reviews and member benefits</a:t>
            </a:r>
          </a:p>
        </p:txBody>
      </p:sp>
      <p:sp>
        <p:nvSpPr>
          <p:cNvPr id="17" name="s2-panel-3">
            <a:extLst xmlns:a="http://schemas.openxmlformats.org/drawingml/2006/main">
              <a:ext uri="{FF2B5EF4-FFF2-40B4-BE49-F238E27FC236}">
                <a16:creationId xmlns:a16="http://schemas.microsoft.com/office/drawing/2014/main" id="{71F385FF-9C6E-4FB8-B07E-310308EE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54673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a9539458d4e4d"/>
          <a:stretch xmlns:a="http://schemas.openxmlformats.org/drawingml/2006/main"/>
        </p:blipFill>
        <p:spPr>
          <a:xfrm xmlns:a="http://schemas.openxmlformats.org/drawingml/2006/main">
            <a:off x="6438900" y="4410075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19" name="s2-h-3">
            <a:extLst xmlns:a="http://schemas.openxmlformats.org/drawingml/2006/main">
              <a:ext uri="{FF2B5EF4-FFF2-40B4-BE49-F238E27FC236}">
                <a16:creationId xmlns:a16="http://schemas.microsoft.com/office/drawing/2014/main" id="{2094C126-E368-43FE-BED5-C20B1EA5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624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Operate</a:t>
            </a:r>
          </a:p>
        </p:txBody>
      </p:sp>
      <p:sp>
        <p:nvSpPr>
          <p:cNvPr id="20" name="s2-b-3">
            <a:extLst xmlns:a="http://schemas.openxmlformats.org/drawingml/2006/main">
              <a:ext uri="{FF2B5EF4-FFF2-40B4-BE49-F238E27FC236}">
                <a16:creationId xmlns:a16="http://schemas.microsoft.com/office/drawing/2014/main" id="{168621D1-FE65-4534-924B-F9F99C2F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815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5848A"/>
                </a:solidFill>
                <a:latin typeface="Arial"/>
                <a:ea typeface="Arial"/>
                <a:cs typeface="Arial"/>
              </a:rPr>
              <a:t>Provider registration, vetting, redemptions, content management and audit trails</a:t>
            </a:r>
          </a:p>
        </p:txBody>
      </p:sp>
    </p:spTree>
    <p:extLst>
      <p:ext uri="{BB962C8B-B14F-4D97-AF65-F5344CB8AC3E}">
        <p14:creationId xmlns:p14="http://schemas.microsoft.com/office/powerpoint/2010/main" val="16587434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3">
            <a:extLst xmlns:a="http://schemas.openxmlformats.org/drawingml/2006/main">
              <a:ext uri="{FF2B5EF4-FFF2-40B4-BE49-F238E27FC236}">
                <a16:creationId xmlns:a16="http://schemas.microsoft.com/office/drawing/2014/main" id="{8B690089-ECDD-4907-8F0E-D6B5DA1E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696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6960"/>
                </a:solidFill>
                <a:latin typeface="Arial"/>
                <a:ea typeface="Arial"/>
                <a:cs typeface="Arial"/>
              </a:rPr>
              <a:t>VISITOR EXPERIENCE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7813573-7426-4051-83A3-522A1A8B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Discovery starts with Zambia</a:t>
            </a:r>
          </a:p>
        </p:txBody>
      </p:sp>
      <p:sp>
        <p:nvSpPr>
          <p:cNvPr id="3" name="footer-3">
            <a:extLst xmlns:a="http://schemas.openxmlformats.org/drawingml/2006/main">
              <a:ext uri="{FF2B5EF4-FFF2-40B4-BE49-F238E27FC236}">
                <a16:creationId xmlns:a16="http://schemas.microsoft.com/office/drawing/2014/main" id="{B2681543-9E73-4BEA-A406-D9A97321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4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3ed0a51ac4ada"/>
          <a:srcRect xmlns:a="http://schemas.openxmlformats.org/drawingml/2006/main" l="0" t="881" r="0" b="8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66875"/>
            <a:ext cx="5334000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accent-Destination-led search">
            <a:extLst xmlns:a="http://schemas.openxmlformats.org/drawingml/2006/main">
              <a:ext uri="{FF2B5EF4-FFF2-40B4-BE49-F238E27FC236}">
                <a16:creationId xmlns:a16="http://schemas.microsoft.com/office/drawing/2014/main" id="{6C144658-FBEC-4D93-B0EF-63753FC8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9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-Destination-led search">
            <a:extLst xmlns:a="http://schemas.openxmlformats.org/drawingml/2006/main">
              <a:ext uri="{FF2B5EF4-FFF2-40B4-BE49-F238E27FC236}">
                <a16:creationId xmlns:a16="http://schemas.microsoft.com/office/drawing/2014/main" id="{68626065-72B3-4358-A794-6DFD0414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62125"/>
            <a:ext cx="501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Destination-led search</a:t>
            </a:r>
          </a:p>
        </p:txBody>
      </p:sp>
      <p:sp>
        <p:nvSpPr>
          <p:cNvPr id="7" name="b-Destination-led search">
            <a:extLst xmlns:a="http://schemas.openxmlformats.org/drawingml/2006/main">
              <a:ext uri="{FF2B5EF4-FFF2-40B4-BE49-F238E27FC236}">
                <a16:creationId xmlns:a16="http://schemas.microsoft.com/office/drawing/2014/main" id="{897DAD2E-43AB-4FD3-AEA4-7F061510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38375"/>
            <a:ext cx="5010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85848A"/>
                </a:solidFill>
                <a:latin typeface="Arial"/>
                <a:ea typeface="Arial"/>
                <a:cs typeface="Arial"/>
              </a:rPr>
              <a:t>Find places and stays by name, province, destination or experience category.</a:t>
            </a:r>
          </a:p>
        </p:txBody>
      </p:sp>
      <p:sp>
        <p:nvSpPr>
          <p:cNvPr id="8" name="accent-Rich local context">
            <a:extLst xmlns:a="http://schemas.openxmlformats.org/drawingml/2006/main">
              <a:ext uri="{FF2B5EF4-FFF2-40B4-BE49-F238E27FC236}">
                <a16:creationId xmlns:a16="http://schemas.microsoft.com/office/drawing/2014/main" id="{962BA026-5E9C-4D0D-9050-302192C1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-Rich local context">
            <a:extLst xmlns:a="http://schemas.openxmlformats.org/drawingml/2006/main">
              <a:ext uri="{FF2B5EF4-FFF2-40B4-BE49-F238E27FC236}">
                <a16:creationId xmlns:a16="http://schemas.microsoft.com/office/drawing/2014/main" id="{F7F182B5-516F-4D5E-A8E1-47AD6AC3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76625"/>
            <a:ext cx="501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Rich local context</a:t>
            </a:r>
          </a:p>
        </p:txBody>
      </p:sp>
      <p:sp>
        <p:nvSpPr>
          <p:cNvPr id="10" name="b-Rich local context">
            <a:extLst xmlns:a="http://schemas.openxmlformats.org/drawingml/2006/main">
              <a:ext uri="{FF2B5EF4-FFF2-40B4-BE49-F238E27FC236}">
                <a16:creationId xmlns:a16="http://schemas.microsoft.com/office/drawing/2014/main" id="{11AE261F-08B1-4557-B2C9-C0834A4B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52875"/>
            <a:ext cx="5010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85848A"/>
                </a:solidFill>
                <a:latin typeface="Arial"/>
                <a:ea typeface="Arial"/>
                <a:cs typeface="Arial"/>
              </a:rPr>
              <a:t>Move beyond listings into ceremonies, landmarks, safari trails and practical destination knowledge.</a:t>
            </a:r>
          </a:p>
        </p:txBody>
      </p:sp>
      <p:sp>
        <p:nvSpPr>
          <p:cNvPr id="11" name="s3-callout">
            <a:extLst xmlns:a="http://schemas.openxmlformats.org/drawingml/2006/main">
              <a:ext uri="{FF2B5EF4-FFF2-40B4-BE49-F238E27FC236}">
                <a16:creationId xmlns:a16="http://schemas.microsoft.com/office/drawing/2014/main" id="{5AE21300-5F24-4434-9E99-38349959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81625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69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B6960"/>
                </a:solidFill>
                <a:latin typeface="Arial"/>
                <a:ea typeface="Arial"/>
                <a:cs typeface="Arial"/>
              </a:rPr>
              <a:t>The result is a guide to the country, not just a storefront.</a:t>
            </a:r>
          </a:p>
        </p:txBody>
      </p:sp>
    </p:spTree>
    <p:extLst>
      <p:ext uri="{BB962C8B-B14F-4D97-AF65-F5344CB8AC3E}">
        <p14:creationId xmlns:p14="http://schemas.microsoft.com/office/powerpoint/2010/main" val="5127948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4">
            <a:extLst xmlns:a="http://schemas.openxmlformats.org/drawingml/2006/main">
              <a:ext uri="{FF2B5EF4-FFF2-40B4-BE49-F238E27FC236}">
                <a16:creationId xmlns:a16="http://schemas.microsoft.com/office/drawing/2014/main" id="{6712E8ED-3920-4203-9F72-B9A4CC69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696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6960"/>
                </a:solidFill>
                <a:latin typeface="Arial"/>
                <a:ea typeface="Arial"/>
                <a:cs typeface="Arial"/>
              </a:rPr>
              <a:t>SMART TRAVEL SUPPORT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3F9AD2E-FFF7-4157-82E2-95C8DD4E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Preparation stays useful beyond connectivity</a:t>
            </a:r>
          </a:p>
        </p:txBody>
      </p:sp>
      <p:sp>
        <p:nvSpPr>
          <p:cNvPr id="3" name="footer-4">
            <a:extLst xmlns:a="http://schemas.openxmlformats.org/drawingml/2006/main">
              <a:ext uri="{FF2B5EF4-FFF2-40B4-BE49-F238E27FC236}">
                <a16:creationId xmlns:a16="http://schemas.microsoft.com/office/drawing/2014/main" id="{BD94E75E-693B-401B-86E4-92C2F25C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48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9c8c13fcb4932"/>
          <a:stretch xmlns:a="http://schemas.openxmlformats.org/drawingml/2006/main"/>
        </p:blipFill>
        <p:spPr>
          <a:xfrm xmlns:a="http://schemas.openxmlformats.org/drawingml/2006/main">
            <a:off x="400050" y="1666875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5" name="s4-h-0">
            <a:extLst xmlns:a="http://schemas.openxmlformats.org/drawingml/2006/main">
              <a:ext uri="{FF2B5EF4-FFF2-40B4-BE49-F238E27FC236}">
                <a16:creationId xmlns:a16="http://schemas.microsoft.com/office/drawing/2014/main" id="{98594436-A0E1-4B39-ACB3-C05F8655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668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Interactive map</a:t>
            </a:r>
          </a:p>
        </p:txBody>
      </p:sp>
      <p:sp>
        <p:nvSpPr>
          <p:cNvPr id="6" name="s4-b-0">
            <a:extLst xmlns:a="http://schemas.openxmlformats.org/drawingml/2006/main">
              <a:ext uri="{FF2B5EF4-FFF2-40B4-BE49-F238E27FC236}">
                <a16:creationId xmlns:a16="http://schemas.microsoft.com/office/drawing/2014/main" id="{AAC29991-E7E3-4033-89B9-7A574E10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62175"/>
            <a:ext cx="4333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85848A"/>
                </a:solidFill>
                <a:latin typeface="Arial"/>
                <a:ea typeface="Arial"/>
                <a:cs typeface="Arial"/>
              </a:rPr>
              <a:t>Select destinations visually and return directly to relevant places.</a:t>
            </a:r>
          </a:p>
        </p:txBody>
      </p:sp>
      <p:sp>
        <p:nvSpPr>
          <p:cNvPr id="7" name="s4-rule-0">
            <a:extLst xmlns:a="http://schemas.openxmlformats.org/drawingml/2006/main">
              <a:ext uri="{FF2B5EF4-FFF2-40B4-BE49-F238E27FC236}">
                <a16:creationId xmlns:a16="http://schemas.microsoft.com/office/drawing/2014/main" id="{73252DE9-8970-4BE5-9A1B-10537011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5286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CEC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bbb7c987c49b1"/>
          <a:stretch xmlns:a="http://schemas.openxmlformats.org/drawingml/2006/main"/>
        </p:blipFill>
        <p:spPr>
          <a:xfrm xmlns:a="http://schemas.openxmlformats.org/drawingml/2006/main">
            <a:off x="6229350" y="1666875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9" name="s4-h-1">
            <a:extLst xmlns:a="http://schemas.openxmlformats.org/drawingml/2006/main">
              <a:ext uri="{FF2B5EF4-FFF2-40B4-BE49-F238E27FC236}">
                <a16:creationId xmlns:a16="http://schemas.microsoft.com/office/drawing/2014/main" id="{9DD757EE-087A-4E18-9BD4-AEEB7509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668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Safari AI</a:t>
            </a:r>
          </a:p>
        </p:txBody>
      </p:sp>
      <p:sp>
        <p:nvSpPr>
          <p:cNvPr id="10" name="s4-b-1">
            <a:extLst xmlns:a="http://schemas.openxmlformats.org/drawingml/2006/main">
              <a:ext uri="{FF2B5EF4-FFF2-40B4-BE49-F238E27FC236}">
                <a16:creationId xmlns:a16="http://schemas.microsoft.com/office/drawing/2014/main" id="{A5F73B62-74E4-4406-BDCC-F6D1F94E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62175"/>
            <a:ext cx="4333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85848A"/>
                </a:solidFill>
                <a:latin typeface="Arial"/>
                <a:ea typeface="Arial"/>
                <a:cs typeface="Arial"/>
              </a:rPr>
              <a:t>Get conversational help and move useful ideas into trip planning.</a:t>
            </a:r>
          </a:p>
        </p:txBody>
      </p:sp>
      <p:sp>
        <p:nvSpPr>
          <p:cNvPr id="11" name="s4-rule-1">
            <a:extLst xmlns:a="http://schemas.openxmlformats.org/drawingml/2006/main">
              <a:ext uri="{FF2B5EF4-FFF2-40B4-BE49-F238E27FC236}">
                <a16:creationId xmlns:a16="http://schemas.microsoft.com/office/drawing/2014/main" id="{9BCA1862-111C-498C-86DC-15782D4D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38500"/>
            <a:ext cx="5286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CEC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e2c36409e49e5"/>
          <a:stretch xmlns:a="http://schemas.openxmlformats.org/drawingml/2006/main"/>
        </p:blipFill>
        <p:spPr>
          <a:xfrm xmlns:a="http://schemas.openxmlformats.org/drawingml/2006/main">
            <a:off x="400050" y="3762375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3" name="s4-h-2">
            <a:extLst xmlns:a="http://schemas.openxmlformats.org/drawingml/2006/main">
              <a:ext uri="{FF2B5EF4-FFF2-40B4-BE49-F238E27FC236}">
                <a16:creationId xmlns:a16="http://schemas.microsoft.com/office/drawing/2014/main" id="{BCE4FF27-7A49-4745-AC93-64ED5208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623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SafeTravel</a:t>
            </a:r>
          </a:p>
        </p:txBody>
      </p:sp>
      <p:sp>
        <p:nvSpPr>
          <p:cNvPr id="14" name="s4-b-2">
            <a:extLst xmlns:a="http://schemas.openxmlformats.org/drawingml/2006/main">
              <a:ext uri="{FF2B5EF4-FFF2-40B4-BE49-F238E27FC236}">
                <a16:creationId xmlns:a16="http://schemas.microsoft.com/office/drawing/2014/main" id="{099396D9-8872-43FC-B3E6-8111E68E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57675"/>
            <a:ext cx="4333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85848A"/>
                </a:solidFill>
                <a:latin typeface="Arial"/>
                <a:ea typeface="Arial"/>
                <a:cs typeface="Arial"/>
              </a:rPr>
              <a:t>Surface practical security guidance within the same journey.</a:t>
            </a:r>
          </a:p>
        </p:txBody>
      </p:sp>
      <p:sp>
        <p:nvSpPr>
          <p:cNvPr id="15" name="s4-rule-2">
            <a:extLst xmlns:a="http://schemas.openxmlformats.org/drawingml/2006/main">
              <a:ext uri="{FF2B5EF4-FFF2-40B4-BE49-F238E27FC236}">
                <a16:creationId xmlns:a16="http://schemas.microsoft.com/office/drawing/2014/main" id="{EDA7FE10-1028-4BCB-BC00-65E8C7F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5286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CEC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e9c00ae9f40d5"/>
          <a:stretch xmlns:a="http://schemas.openxmlformats.org/drawingml/2006/main"/>
        </p:blipFill>
        <p:spPr>
          <a:xfrm xmlns:a="http://schemas.openxmlformats.org/drawingml/2006/main">
            <a:off x="6229350" y="3762375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7" name="s4-h-3">
            <a:extLst xmlns:a="http://schemas.openxmlformats.org/drawingml/2006/main">
              <a:ext uri="{FF2B5EF4-FFF2-40B4-BE49-F238E27FC236}">
                <a16:creationId xmlns:a16="http://schemas.microsoft.com/office/drawing/2014/main" id="{EF809615-49DD-450D-AF9C-D49587C9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623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Offline-ready tools</a:t>
            </a:r>
          </a:p>
        </p:txBody>
      </p:sp>
      <p:sp>
        <p:nvSpPr>
          <p:cNvPr id="18" name="s4-b-3">
            <a:extLst xmlns:a="http://schemas.openxmlformats.org/drawingml/2006/main">
              <a:ext uri="{FF2B5EF4-FFF2-40B4-BE49-F238E27FC236}">
                <a16:creationId xmlns:a16="http://schemas.microsoft.com/office/drawing/2014/main" id="{C8CA01D7-D8A8-48DD-B4CB-93656F42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57675"/>
            <a:ext cx="4333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85848A"/>
                </a:solidFill>
                <a:latin typeface="Arial"/>
                <a:ea typeface="Arial"/>
                <a:cs typeface="Arial"/>
              </a:rPr>
              <a:t>Carry phrase support, permits and downloadable trail packs into the field.</a:t>
            </a:r>
          </a:p>
        </p:txBody>
      </p:sp>
      <p:sp>
        <p:nvSpPr>
          <p:cNvPr id="19" name="s4-rule-3">
            <a:extLst xmlns:a="http://schemas.openxmlformats.org/drawingml/2006/main">
              <a:ext uri="{FF2B5EF4-FFF2-40B4-BE49-F238E27FC236}">
                <a16:creationId xmlns:a16="http://schemas.microsoft.com/office/drawing/2014/main" id="{B4C0253A-334A-4C0F-A0DE-639B4602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34000"/>
            <a:ext cx="5286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52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32356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5">
            <a:extLst xmlns:a="http://schemas.openxmlformats.org/drawingml/2006/main">
              <a:ext uri="{FF2B5EF4-FFF2-40B4-BE49-F238E27FC236}">
                <a16:creationId xmlns:a16="http://schemas.microsoft.com/office/drawing/2014/main" id="{DEA2B36C-6115-49F7-BCBC-A9E95D2A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696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6960"/>
                </a:solidFill>
                <a:latin typeface="Arial"/>
                <a:ea typeface="Arial"/>
                <a:cs typeface="Arial"/>
              </a:rPr>
              <a:t>CEREMONIES &amp; LOCAL KNOWLEDGE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8BD4165-6AF1-46A2-8DC9-C01FC7E5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Culture is presented as a living part of the journey</a:t>
            </a:r>
          </a:p>
        </p:txBody>
      </p:sp>
      <p:sp>
        <p:nvSpPr>
          <p:cNvPr id="3" name="footer-5">
            <a:extLst xmlns:a="http://schemas.openxmlformats.org/drawingml/2006/main">
              <a:ext uri="{FF2B5EF4-FFF2-40B4-BE49-F238E27FC236}">
                <a16:creationId xmlns:a16="http://schemas.microsoft.com/office/drawing/2014/main" id="{1F9711D1-8E81-48C3-811B-F0218A5C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48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7241b69af4830"/>
          <a:srcRect xmlns:a="http://schemas.openxmlformats.org/drawingml/2006/main" l="0" t="6289" r="0" b="62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19250"/>
            <a:ext cx="5524500" cy="2714625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ea0f33fdf44cd"/>
          <a:srcRect xmlns:a="http://schemas.openxmlformats.org/drawingml/2006/main" l="23025" t="0" r="230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619250"/>
            <a:ext cx="2571750" cy="2714625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bd9bd2e2c45b3"/>
          <a:srcRect xmlns:a="http://schemas.openxmlformats.org/drawingml/2006/main" l="11842" t="0" r="118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29700" y="1619250"/>
            <a:ext cx="2762250" cy="2714625"/>
          </a:xfrm>
          <a:prstGeom xmlns:a="http://schemas.openxmlformats.org/drawingml/2006/main" prst="rect">
            <a:avLst/>
          </a:prstGeom>
        </p:spPr>
      </p:pic>
      <p:sp>
        <p:nvSpPr>
          <p:cNvPr id="7" name="s5-body">
            <a:extLst xmlns:a="http://schemas.openxmlformats.org/drawingml/2006/main">
              <a:ext uri="{FF2B5EF4-FFF2-40B4-BE49-F238E27FC236}">
                <a16:creationId xmlns:a16="http://schemas.microsoft.com/office/drawing/2014/main" id="{ABF96756-1FA6-4250-9124-5631BD48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2231"/>
                </a:solidFill>
                <a:latin typeface="Arial"/>
                <a:ea typeface="Arial"/>
                <a:cs typeface="Arial"/>
              </a:rPr>
              <a:t>A dedicated ceremony calendar brings together verified dates, cultural etiquette and access information. Local phrase support adds pronunciation, literal meaning and respectful-use notes.</a:t>
            </a:r>
          </a:p>
        </p:txBody>
      </p:sp>
      <p:sp>
        <p:nvSpPr>
          <p:cNvPr id="8" name="s5-quote">
            <a:extLst xmlns:a="http://schemas.openxmlformats.org/drawingml/2006/main">
              <a:ext uri="{FF2B5EF4-FFF2-40B4-BE49-F238E27FC236}">
                <a16:creationId xmlns:a16="http://schemas.microsoft.com/office/drawing/2014/main" id="{9B022E05-9E87-471F-B2CE-2BB1021C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67250"/>
            <a:ext cx="3219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69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B6960"/>
                </a:solidFill>
                <a:latin typeface="Arial"/>
                <a:ea typeface="Arial"/>
                <a:cs typeface="Arial"/>
              </a:rPr>
              <a:t>Tourism becomes easier to navigate—and more respectful to participate in.</a:t>
            </a:r>
          </a:p>
        </p:txBody>
      </p:sp>
    </p:spTree>
    <p:extLst>
      <p:ext uri="{BB962C8B-B14F-4D97-AF65-F5344CB8AC3E}">
        <p14:creationId xmlns:p14="http://schemas.microsoft.com/office/powerpoint/2010/main" val="2027788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6">
            <a:extLst xmlns:a="http://schemas.openxmlformats.org/drawingml/2006/main">
              <a:ext uri="{FF2B5EF4-FFF2-40B4-BE49-F238E27FC236}">
                <a16:creationId xmlns:a16="http://schemas.microsoft.com/office/drawing/2014/main" id="{BDE21A88-ADDB-4E65-AD3F-7266F853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696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6960"/>
                </a:solidFill>
                <a:latin typeface="Arial"/>
                <a:ea typeface="Arial"/>
                <a:cs typeface="Arial"/>
              </a:rPr>
              <a:t>CONNECTED TRIP FLOW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0D4FE81B-E2B3-4FFE-8F48-1E97ECFD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The journey continues from inspiration to action</a:t>
            </a:r>
          </a:p>
        </p:txBody>
      </p:sp>
      <p:sp>
        <p:nvSpPr>
          <p:cNvPr id="3" name="footer-6">
            <a:extLst xmlns:a="http://schemas.openxmlformats.org/drawingml/2006/main">
              <a:ext uri="{FF2B5EF4-FFF2-40B4-BE49-F238E27FC236}">
                <a16:creationId xmlns:a16="http://schemas.microsoft.com/office/drawing/2014/main" id="{C7E0648B-DD85-4F0C-B5BF-F7C4EB2C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48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6-line">
            <a:extLst xmlns:a="http://schemas.openxmlformats.org/drawingml/2006/main">
              <a:ext uri="{FF2B5EF4-FFF2-40B4-BE49-F238E27FC236}">
                <a16:creationId xmlns:a16="http://schemas.microsoft.com/office/drawing/2014/main" id="{9B3C3A55-2051-4629-9FF1-9A7F40BD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10591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9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panel-0">
            <a:extLst xmlns:a="http://schemas.openxmlformats.org/drawingml/2006/main">
              <a:ext uri="{FF2B5EF4-FFF2-40B4-BE49-F238E27FC236}">
                <a16:creationId xmlns:a16="http://schemas.microsoft.com/office/drawing/2014/main" id="{AE5C299E-1A60-4A24-A795-1A525B8F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num-0">
            <a:extLst xmlns:a="http://schemas.openxmlformats.org/drawingml/2006/main">
              <a:ext uri="{FF2B5EF4-FFF2-40B4-BE49-F238E27FC236}">
                <a16:creationId xmlns:a16="http://schemas.microsoft.com/office/drawing/2014/main" id="{4DB6049E-CCB7-4EA0-8EF1-B71D7CC1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775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7752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6-h-0">
            <a:extLst xmlns:a="http://schemas.openxmlformats.org/drawingml/2006/main">
              <a:ext uri="{FF2B5EF4-FFF2-40B4-BE49-F238E27FC236}">
                <a16:creationId xmlns:a16="http://schemas.microsoft.com/office/drawing/2014/main" id="{F10770A1-6F9A-437C-9E65-184DC400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8" name="s6-b-0">
            <a:extLst xmlns:a="http://schemas.openxmlformats.org/drawingml/2006/main">
              <a:ext uri="{FF2B5EF4-FFF2-40B4-BE49-F238E27FC236}">
                <a16:creationId xmlns:a16="http://schemas.microsoft.com/office/drawing/2014/main" id="{B9B98969-1640-4EDC-9894-EB71ED4D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5848A"/>
                </a:solidFill>
                <a:latin typeface="Arial"/>
                <a:ea typeface="Arial"/>
                <a:cs typeface="Arial"/>
              </a:rPr>
              <a:t>Search destinations, listings and experiences.</a:t>
            </a:r>
          </a:p>
        </p:txBody>
      </p:sp>
      <p:sp>
        <p:nvSpPr>
          <p:cNvPr id="9" name="s6-dot-0">
            <a:extLst xmlns:a="http://schemas.openxmlformats.org/drawingml/2006/main">
              <a:ext uri="{FF2B5EF4-FFF2-40B4-BE49-F238E27FC236}">
                <a16:creationId xmlns:a16="http://schemas.microsoft.com/office/drawing/2014/main" id="{345DD75D-FA92-4309-B14D-93694E9D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6-label-0">
            <a:extLst xmlns:a="http://schemas.openxmlformats.org/drawingml/2006/main">
              <a:ext uri="{FF2B5EF4-FFF2-40B4-BE49-F238E27FC236}">
                <a16:creationId xmlns:a16="http://schemas.microsoft.com/office/drawing/2014/main" id="{4F282E86-0A7D-484C-A82E-50C79EC9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696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6960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1" name="s6-panel-1">
            <a:extLst xmlns:a="http://schemas.openxmlformats.org/drawingml/2006/main">
              <a:ext uri="{FF2B5EF4-FFF2-40B4-BE49-F238E27FC236}">
                <a16:creationId xmlns:a16="http://schemas.microsoft.com/office/drawing/2014/main" id="{8DFADED2-AAE7-4CF6-9FBF-AF6C0B81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6-num-1">
            <a:extLst xmlns:a="http://schemas.openxmlformats.org/drawingml/2006/main">
              <a:ext uri="{FF2B5EF4-FFF2-40B4-BE49-F238E27FC236}">
                <a16:creationId xmlns:a16="http://schemas.microsoft.com/office/drawing/2014/main" id="{FE887855-0ACE-47F8-B47C-8A16146B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859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775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7752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s6-h-1">
            <a:extLst xmlns:a="http://schemas.openxmlformats.org/drawingml/2006/main">
              <a:ext uri="{FF2B5EF4-FFF2-40B4-BE49-F238E27FC236}">
                <a16:creationId xmlns:a16="http://schemas.microsoft.com/office/drawing/2014/main" id="{37F5AA57-1A3F-42AD-85BC-9CB187D9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765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Organise</a:t>
            </a:r>
          </a:p>
        </p:txBody>
      </p:sp>
      <p:sp>
        <p:nvSpPr>
          <p:cNvPr id="14" name="s6-b-1">
            <a:extLst xmlns:a="http://schemas.openxmlformats.org/drawingml/2006/main">
              <a:ext uri="{FF2B5EF4-FFF2-40B4-BE49-F238E27FC236}">
                <a16:creationId xmlns:a16="http://schemas.microsoft.com/office/drawing/2014/main" id="{63037845-FA39-4F3D-AAA4-7C78D608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432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5848A"/>
                </a:solidFill>
                <a:latin typeface="Arial"/>
                <a:ea typeface="Arial"/>
                <a:cs typeface="Arial"/>
              </a:rPr>
              <a:t>Save favourites and build collaborative trips.</a:t>
            </a:r>
          </a:p>
        </p:txBody>
      </p:sp>
      <p:sp>
        <p:nvSpPr>
          <p:cNvPr id="15" name="s6-dot-1">
            <a:extLst xmlns:a="http://schemas.openxmlformats.org/drawingml/2006/main">
              <a:ext uri="{FF2B5EF4-FFF2-40B4-BE49-F238E27FC236}">
                <a16:creationId xmlns:a16="http://schemas.microsoft.com/office/drawing/2014/main" id="{D5D02A78-0324-438E-9878-D1ED4742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00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6-label-1">
            <a:extLst xmlns:a="http://schemas.openxmlformats.org/drawingml/2006/main">
              <a:ext uri="{FF2B5EF4-FFF2-40B4-BE49-F238E27FC236}">
                <a16:creationId xmlns:a16="http://schemas.microsoft.com/office/drawing/2014/main" id="{F9BA82B3-406B-4716-8ECA-4D300B87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429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696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6960"/>
                </a:solidFill>
                <a:latin typeface="Arial"/>
                <a:ea typeface="Arial"/>
                <a:cs typeface="Arial"/>
              </a:rPr>
              <a:t>Organise</a:t>
            </a:r>
          </a:p>
        </p:txBody>
      </p:sp>
      <p:sp>
        <p:nvSpPr>
          <p:cNvPr id="17" name="s6-panel-2">
            <a:extLst xmlns:a="http://schemas.openxmlformats.org/drawingml/2006/main">
              <a:ext uri="{FF2B5EF4-FFF2-40B4-BE49-F238E27FC236}">
                <a16:creationId xmlns:a16="http://schemas.microsoft.com/office/drawing/2014/main" id="{6412B257-A61D-4DCD-9C24-A8BA38EC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num-2">
            <a:extLst xmlns:a="http://schemas.openxmlformats.org/drawingml/2006/main">
              <a:ext uri="{FF2B5EF4-FFF2-40B4-BE49-F238E27FC236}">
                <a16:creationId xmlns:a16="http://schemas.microsoft.com/office/drawing/2014/main" id="{3AB0EB3A-8CBC-44CB-9F79-0BCC5ED8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859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775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7752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s6-h-2">
            <a:extLst xmlns:a="http://schemas.openxmlformats.org/drawingml/2006/main">
              <a:ext uri="{FF2B5EF4-FFF2-40B4-BE49-F238E27FC236}">
                <a16:creationId xmlns:a16="http://schemas.microsoft.com/office/drawing/2014/main" id="{E4849245-1122-421D-8B32-427A2BB7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Book &amp; carry</a:t>
            </a:r>
          </a:p>
        </p:txBody>
      </p:sp>
      <p:sp>
        <p:nvSpPr>
          <p:cNvPr id="20" name="s6-b-2">
            <a:extLst xmlns:a="http://schemas.openxmlformats.org/drawingml/2006/main">
              <a:ext uri="{FF2B5EF4-FFF2-40B4-BE49-F238E27FC236}">
                <a16:creationId xmlns:a16="http://schemas.microsoft.com/office/drawing/2014/main" id="{B404856A-976E-4EF6-947E-0197BA7B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5848A"/>
                </a:solidFill>
                <a:latin typeface="Arial"/>
                <a:ea typeface="Arial"/>
                <a:cs typeface="Arial"/>
              </a:rPr>
              <a:t>Create bookings, hold references, access permits and member benefits.</a:t>
            </a:r>
          </a:p>
        </p:txBody>
      </p:sp>
      <p:sp>
        <p:nvSpPr>
          <p:cNvPr id="21" name="s6-dot-2">
            <a:extLst xmlns:a="http://schemas.openxmlformats.org/drawingml/2006/main">
              <a:ext uri="{FF2B5EF4-FFF2-40B4-BE49-F238E27FC236}">
                <a16:creationId xmlns:a16="http://schemas.microsoft.com/office/drawing/2014/main" id="{6775ECF5-6ECE-48A8-86BF-336DAD68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00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6-label-2">
            <a:extLst xmlns:a="http://schemas.openxmlformats.org/drawingml/2006/main">
              <a:ext uri="{FF2B5EF4-FFF2-40B4-BE49-F238E27FC236}">
                <a16:creationId xmlns:a16="http://schemas.microsoft.com/office/drawing/2014/main" id="{50501B3E-B1E0-47AF-B994-F333BD85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29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696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6960"/>
                </a:solidFill>
                <a:latin typeface="Arial"/>
                <a:ea typeface="Arial"/>
                <a:cs typeface="Arial"/>
              </a:rPr>
              <a:t>Book &amp; carry</a:t>
            </a:r>
          </a:p>
        </p:txBody>
      </p:sp>
    </p:spTree>
    <p:extLst>
      <p:ext uri="{BB962C8B-B14F-4D97-AF65-F5344CB8AC3E}">
        <p14:creationId xmlns:p14="http://schemas.microsoft.com/office/powerpoint/2010/main" val="8113826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7">
            <a:extLst xmlns:a="http://schemas.openxmlformats.org/drawingml/2006/main">
              <a:ext uri="{FF2B5EF4-FFF2-40B4-BE49-F238E27FC236}">
                <a16:creationId xmlns:a16="http://schemas.microsoft.com/office/drawing/2014/main" id="{153D2566-3CEE-4C5D-A5DA-27819586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696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6960"/>
                </a:solidFill>
                <a:latin typeface="Arial"/>
                <a:ea typeface="Arial"/>
                <a:cs typeface="Arial"/>
              </a:rPr>
              <a:t>PARTNER ECOSYSTEM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0411B634-065A-4DAF-89BD-4C125447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Operators participate through a trusted layer</a:t>
            </a:r>
          </a:p>
        </p:txBody>
      </p:sp>
      <p:sp>
        <p:nvSpPr>
          <p:cNvPr id="3" name="footer-7">
            <a:extLst xmlns:a="http://schemas.openxmlformats.org/drawingml/2006/main">
              <a:ext uri="{FF2B5EF4-FFF2-40B4-BE49-F238E27FC236}">
                <a16:creationId xmlns:a16="http://schemas.microsoft.com/office/drawing/2014/main" id="{06D5C0EB-8D9F-4E36-9643-7CE14939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48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8d7013bc64879"/>
          <a:srcRect xmlns:a="http://schemas.openxmlformats.org/drawingml/2006/main" l="0" t="10000" r="0" b="1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809750"/>
            <a:ext cx="4762500" cy="2381250"/>
          </a:xfrm>
          <a:prstGeom xmlns:a="http://schemas.openxmlformats.org/drawingml/2006/main" prst="rect">
            <a:avLst/>
          </a:prstGeom>
        </p:spPr>
      </p:pic>
      <p:sp>
        <p:nvSpPr>
          <p:cNvPr id="5" name="s7-big">
            <a:extLst xmlns:a="http://schemas.openxmlformats.org/drawingml/2006/main">
              <a:ext uri="{FF2B5EF4-FFF2-40B4-BE49-F238E27FC236}">
                <a16:creationId xmlns:a16="http://schemas.microsoft.com/office/drawing/2014/main" id="{3D371C99-A984-4BE0-8177-2DC42AC0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B696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B6960"/>
                </a:solidFill>
                <a:latin typeface="Arial"/>
                <a:ea typeface="Arial"/>
                <a:cs typeface="Arial"/>
              </a:rPr>
              <a:t>A marketplace is only as strong as the operators behind it.</a:t>
            </a:r>
          </a:p>
        </p:txBody>
      </p:sp>
      <p:sp>
        <p:nvSpPr>
          <p:cNvPr id="6" name="s7-n-0">
            <a:extLst xmlns:a="http://schemas.openxmlformats.org/drawingml/2006/main">
              <a:ext uri="{FF2B5EF4-FFF2-40B4-BE49-F238E27FC236}">
                <a16:creationId xmlns:a16="http://schemas.microsoft.com/office/drawing/2014/main" id="{7BA4B5AF-53BC-4C7F-B033-037F9286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75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752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7-h-0">
            <a:extLst xmlns:a="http://schemas.openxmlformats.org/drawingml/2006/main">
              <a:ext uri="{FF2B5EF4-FFF2-40B4-BE49-F238E27FC236}">
                <a16:creationId xmlns:a16="http://schemas.microsoft.com/office/drawing/2014/main" id="{3148771C-5FFE-45B4-84BC-3C20E474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Register</a:t>
            </a:r>
          </a:p>
        </p:txBody>
      </p:sp>
      <p:sp>
        <p:nvSpPr>
          <p:cNvPr id="8" name="s7-b-0">
            <a:extLst xmlns:a="http://schemas.openxmlformats.org/drawingml/2006/main">
              <a:ext uri="{FF2B5EF4-FFF2-40B4-BE49-F238E27FC236}">
                <a16:creationId xmlns:a16="http://schemas.microsoft.com/office/drawing/2014/main" id="{3464C5E8-5202-4674-9D39-3D5D6C5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5848A"/>
                </a:solidFill>
                <a:latin typeface="Arial"/>
                <a:ea typeface="Arial"/>
                <a:cs typeface="Arial"/>
              </a:rPr>
              <a:t>Businesses submit identity, contact and tourism licence information.</a:t>
            </a:r>
          </a:p>
        </p:txBody>
      </p:sp>
      <p:sp>
        <p:nvSpPr>
          <p:cNvPr id="9" name="s7-n-1">
            <a:extLst xmlns:a="http://schemas.openxmlformats.org/drawingml/2006/main">
              <a:ext uri="{FF2B5EF4-FFF2-40B4-BE49-F238E27FC236}">
                <a16:creationId xmlns:a16="http://schemas.microsoft.com/office/drawing/2014/main" id="{D0364100-BDFA-46E8-ACEE-D4A04BF4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956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75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752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s7-h-1">
            <a:extLst xmlns:a="http://schemas.openxmlformats.org/drawingml/2006/main">
              <a:ext uri="{FF2B5EF4-FFF2-40B4-BE49-F238E27FC236}">
                <a16:creationId xmlns:a16="http://schemas.microsoft.com/office/drawing/2014/main" id="{CE0D63AE-49BC-43C4-A6D3-C5489C44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9562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Verify &amp; publish</a:t>
            </a:r>
          </a:p>
        </p:txBody>
      </p:sp>
      <p:sp>
        <p:nvSpPr>
          <p:cNvPr id="11" name="s7-b-1">
            <a:extLst xmlns:a="http://schemas.openxmlformats.org/drawingml/2006/main">
              <a:ext uri="{FF2B5EF4-FFF2-40B4-BE49-F238E27FC236}">
                <a16:creationId xmlns:a16="http://schemas.microsoft.com/office/drawing/2014/main" id="{C2AF91B2-7EF0-42CB-B450-0BF14ABE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5848A"/>
                </a:solidFill>
                <a:latin typeface="Arial"/>
                <a:ea typeface="Arial"/>
                <a:cs typeface="Arial"/>
              </a:rPr>
              <a:t>Administrators vet providers and manage listings, categories and content.</a:t>
            </a:r>
          </a:p>
        </p:txBody>
      </p:sp>
      <p:sp>
        <p:nvSpPr>
          <p:cNvPr id="12" name="s7-n-2">
            <a:extLst xmlns:a="http://schemas.openxmlformats.org/drawingml/2006/main">
              <a:ext uri="{FF2B5EF4-FFF2-40B4-BE49-F238E27FC236}">
                <a16:creationId xmlns:a16="http://schemas.microsoft.com/office/drawing/2014/main" id="{0D296905-3F68-4822-AD7F-DFA164EF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75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752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s7-h-2">
            <a:extLst xmlns:a="http://schemas.openxmlformats.org/drawingml/2006/main">
              <a:ext uri="{FF2B5EF4-FFF2-40B4-BE49-F238E27FC236}">
                <a16:creationId xmlns:a16="http://schemas.microsoft.com/office/drawing/2014/main" id="{72047875-94C2-484C-BC48-1CDD0AF5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2231"/>
                </a:solidFill>
                <a:latin typeface="Arial"/>
                <a:ea typeface="Arial"/>
                <a:cs typeface="Arial"/>
              </a:rPr>
              <a:t>Serve &amp; redeem</a:t>
            </a:r>
          </a:p>
        </p:txBody>
      </p:sp>
      <p:sp>
        <p:nvSpPr>
          <p:cNvPr id="14" name="s7-b-2">
            <a:extLst xmlns:a="http://schemas.openxmlformats.org/drawingml/2006/main">
              <a:ext uri="{FF2B5EF4-FFF2-40B4-BE49-F238E27FC236}">
                <a16:creationId xmlns:a16="http://schemas.microsoft.com/office/drawing/2014/main" id="{68FDFE26-2219-483C-ACD8-1B97A9A6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05375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5848A"/>
                </a:solidFill>
                <a:latin typeface="Arial"/>
                <a:ea typeface="Arial"/>
                <a:cs typeface="Arial"/>
              </a:rPr>
              <a:t>Operators handle member redemptions while operations teams manage bookings, reviews and disputes.</a:t>
            </a:r>
          </a:p>
        </p:txBody>
      </p:sp>
    </p:spTree>
    <p:extLst>
      <p:ext uri="{BB962C8B-B14F-4D97-AF65-F5344CB8AC3E}">
        <p14:creationId xmlns:p14="http://schemas.microsoft.com/office/powerpoint/2010/main" val="8307473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B696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8-kicker">
            <a:extLst xmlns:a="http://schemas.openxmlformats.org/drawingml/2006/main">
              <a:ext uri="{FF2B5EF4-FFF2-40B4-BE49-F238E27FC236}">
                <a16:creationId xmlns:a16="http://schemas.microsoft.com/office/drawing/2014/main" id="{CF2809EC-A41E-441E-B0F1-15A95092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CEC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CECA"/>
                </a:solidFill>
                <a:latin typeface="Arial"/>
                <a:ea typeface="Arial"/>
                <a:cs typeface="Arial"/>
              </a:rPr>
              <a:t>BUILT FOR THE NEXT STAGE OF ZAMBIA TOURISM</a:t>
            </a:r>
          </a:p>
        </p:txBody>
      </p:sp>
      <p:sp>
        <p:nvSpPr>
          <p:cNvPr id="2" name="s8-title">
            <a:extLst xmlns:a="http://schemas.openxmlformats.org/drawingml/2006/main">
              <a:ext uri="{FF2B5EF4-FFF2-40B4-BE49-F238E27FC236}">
                <a16:creationId xmlns:a16="http://schemas.microsoft.com/office/drawing/2014/main" id="{FB969CAA-8C5E-46CB-8304-DD598A0D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239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platform.</a:t>
            </a:r>
          </a:p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More confident journeys.</a:t>
            </a:r>
          </a:p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More visible local value.</a:t>
            </a:r>
          </a:p>
        </p:txBody>
      </p:sp>
      <p:sp>
        <p:nvSpPr>
          <p:cNvPr id="3" name="s8-body">
            <a:extLst xmlns:a="http://schemas.openxmlformats.org/drawingml/2006/main">
              <a:ext uri="{FF2B5EF4-FFF2-40B4-BE49-F238E27FC236}">
                <a16:creationId xmlns:a16="http://schemas.microsoft.com/office/drawing/2014/main" id="{085384E2-8B05-4EEC-9AF3-0C7C8F9D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723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ZamRoam brings visitors, operators, culture and destination intelligence into a single scalable experience—ready to demonstrate, partner, pilot and grow.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627ca769644b9"/>
          <a:srcRect xmlns:a="http://schemas.openxmlformats.org/drawingml/2006/main" l="19203" t="0" r="192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1095375"/>
            <a:ext cx="3190875" cy="4143375"/>
          </a:xfrm>
          <a:prstGeom xmlns:a="http://schemas.openxmlformats.org/drawingml/2006/main" prst="rect">
            <a:avLst/>
          </a:prstGeom>
        </p:spPr>
      </p:pic>
      <p:sp>
        <p:nvSpPr>
          <p:cNvPr id="5" name="s8-tech">
            <a:extLst xmlns:a="http://schemas.openxmlformats.org/drawingml/2006/main">
              <a:ext uri="{FF2B5EF4-FFF2-40B4-BE49-F238E27FC236}">
                <a16:creationId xmlns:a16="http://schemas.microsoft.com/office/drawing/2014/main" id="{EDE5ED62-9A72-4B70-8689-5A5687B2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48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2CEC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2CECA"/>
                </a:solidFill>
                <a:latin typeface="Arial"/>
                <a:ea typeface="Arial"/>
                <a:cs typeface="Arial"/>
              </a:rPr>
              <a:t>Responsive web app · Next.js 16 · React 19 · Drizzle data layer</a:t>
            </a:r>
          </a:p>
        </p:txBody>
      </p:sp>
      <p:sp>
        <p:nvSpPr>
          <p:cNvPr id="6" name="footer-8">
            <a:extLst xmlns:a="http://schemas.openxmlformats.org/drawingml/2006/main">
              <a:ext uri="{FF2B5EF4-FFF2-40B4-BE49-F238E27FC236}">
                <a16:creationId xmlns:a16="http://schemas.microsoft.com/office/drawing/2014/main" id="{713682F9-58C1-430C-8DF5-18F80B97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584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48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92395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2026-08-24T05:43:59.8460000Z</dcterms:created>
  <dcterms:modified xsi:type="dcterms:W3CDTF">2026-08-24T05:43:59.8470000Z</dcterms:modified>
</coreProperties>
</file>